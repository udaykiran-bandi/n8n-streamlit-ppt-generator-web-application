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>
                <a:solidFill>
                  <a:srgbClr val="003366"/>
                </a:solidFill>
                <a:latin typeface="Calibri Light"/>
              </a:defRPr>
            </a:pPr>
            <a:r>
              <a:t>Data Science with Gen AI and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323232"/>
                </a:solidFill>
                <a:latin typeface="Calibri"/>
              </a:defRPr>
            </a:pPr>
            <a:r>
              <a:t>Exploring the Next Frontier in Data-Driven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Presented by [Your Name]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Light"/>
              </a:defRPr>
            </a:pPr>
            <a:r>
              <a:t>Introduction to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863840" cy="3474720"/>
          </a:xfrm>
        </p:spPr>
        <p:txBody>
          <a:bodyPr wrap="square"/>
          <a:lstStyle/>
          <a:p/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Interdisciplinary field combining statistics, computer science, and domain expertise.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Focuses on extracting knowledge and insights from structured and unstructured data.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Key phases: Data Collection, Cleaning, Analysis, Modeling, and Visualization.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Goal: Drive informed decision-making and foster innovation across industries.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Light"/>
              </a:defRPr>
            </a:pPr>
            <a:r>
              <a:t>Introduction to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863840" cy="3474720"/>
          </a:xfrm>
        </p:spPr>
        <p:txBody>
          <a:bodyPr wrap="square"/>
          <a:lstStyle/>
          <a:p/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Branch of AI focused on creating new, original content and data.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Learns complex patterns and structures from large datasets.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Capable of generating diverse outputs: text, images, audio, video, and code.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Examples include Large Language Models (LLMs) like GPT and image models like DALL-E.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Light"/>
              </a:defRPr>
            </a:pPr>
            <a:r>
              <a:t>Introduction to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863840" cy="3474720"/>
          </a:xfrm>
        </p:spPr>
        <p:txBody>
          <a:bodyPr wrap="square"/>
          <a:lstStyle/>
          <a:p/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AI systems designed to operate autonomously, pursuing defined goals.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Characterized by perception, planning, action execution, and memory.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Can break down complex tasks into manageable sub-tasks and execute them sequentially.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Often leverage LLMs for reasoning, decision-making, and interaction with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Light"/>
              </a:defRPr>
            </a:pPr>
            <a:r>
              <a:t>How Gen AI Enhances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863840" cy="3474720"/>
          </a:xfrm>
        </p:spPr>
        <p:txBody>
          <a:bodyPr wrap="square"/>
          <a:lstStyle/>
          <a:p/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Data Augmentation: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Synthesizing realistic training data, especially for rare or sensitive cases.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Automated Feature Engineering: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Discovering and creating new, relevant features from raw data.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Model Generation &amp; Optimization: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Assisting in architecture design and hyperparameter tuning for machine learning models.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Code Generation: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Automating script writing for data cleaning, analysis, and ML pipeline development.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Insight Generation: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Summarizing complex findings and generating natural language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Light"/>
              </a:defRPr>
            </a:pPr>
            <a:r>
              <a:t>Architecture of Agentic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863840" cy="3474720"/>
          </a:xfrm>
        </p:spPr>
        <p:txBody>
          <a:bodyPr wrap="square"/>
          <a:lstStyle/>
          <a:p/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LLM Core (The Brain):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Provides reasoning, planning capabilities, and guides overall behavior.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Memory Module: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Stores past interactions, observations, and long-term knowledge for context.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Perception Module: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Gathers information from the environment (e.g., databases, APIs, web).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Planning Module: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Decomposes high-level goals into actionable, executable steps.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Tool Use / Action Module: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Accesses and utilizes external tools (e.g., code interpreters, web search, APIs) to perform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Light"/>
              </a:defRPr>
            </a:pPr>
            <a:r>
              <a:t>Agentic AI vs Gen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863840" cy="3474720"/>
          </a:xfrm>
        </p:spPr>
        <p:txBody>
          <a:bodyPr wrap="square"/>
          <a:lstStyle/>
          <a:p/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Generative AI: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Focus: Creation of novel data or content based on learned patterns.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Primary Goal: Generate output that resembles or extends training data.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Key Capability: Pattern recognition, synthesis, and mimicry.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Autonomy: Limited; typically responds to specific prompts or inputs.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Agentic AI: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Focus: Autonomous, goal-oriented action and complex problem-solving.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Primary Goal: Achieve predefined objectives through planning and execution.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Key Capability: Reasoning, planning, tool orchestration, and self-correction.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Autonomy: High; operates independently and adaptively towards a goal.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Light"/>
              </a:defRPr>
            </a:pPr>
            <a:r>
              <a:t>Real-world Applications of Gen AI and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863840" cy="3474720"/>
          </a:xfrm>
        </p:spPr>
        <p:txBody>
          <a:bodyPr wrap="square"/>
          <a:lstStyle/>
          <a:p/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Generative AI Applications: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Personalized content creation (marketing, news articles).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Accelerated drug discovery and material science design.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Synthetic data generation for privacy-preserving research and testing.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Art, music, and story creation.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Agentic AI Applications: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Autonomous customer support and virtual assistants.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Automated software development, testing, and debugging.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Personalized research and information gathering agents.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Complex task automation across various business processes.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Light"/>
              </a:defRPr>
            </a:pPr>
            <a:r>
              <a:t>Future of Data Science with Gen AI and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863840" cy="3474720"/>
          </a:xfrm>
        </p:spPr>
        <p:txBody>
          <a:bodyPr wrap="square"/>
          <a:lstStyle/>
          <a:p/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Enhanced Automation: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Automating data pipelines, model building, and insight generation from raw data.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Democratization of Data Science: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Making advanced analytics and ML accessible to a broader audience, reducing barriers.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Shift in Roles: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Data scientists evolve to focus more on strategic problem-solving, ethical considerations, and AI governance.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Continuous Learning Systems: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Agentic systems that constantly adapt, learn, and improve data science workflows autonomously.</a:t>
            </a:r>
          </a:p>
          <a:p>
            <a:pPr>
              <a:defRPr sz="2200">
                <a:solidFill>
                  <a:srgbClr val="323232"/>
                </a:solidFill>
                <a:latin typeface="Calibri"/>
              </a:defRPr>
            </a:pPr>
            <a:r>
              <a:t>New Challenges:</a:t>
            </a:r>
          </a:p>
          <a:p>
            <a:pPr lvl="1">
              <a:defRPr sz="2000">
                <a:solidFill>
                  <a:srgbClr val="323232"/>
                </a:solidFill>
                <a:latin typeface="Calibri"/>
              </a:defRPr>
            </a:pPr>
            <a:r>
              <a:t>Emphasis on ensuring AI safety, mitigating bias, and maintaining interpretability.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45920"/>
            <a:ext cx="0" cy="1371600"/>
          </a:xfrm>
        </p:spPr>
        <p:txBody>
          <a:bodyPr/>
          <a:lstStyle/>
          <a:p>
            <a:pPr algn="ctr">
              <a:defRPr sz="5400">
                <a:solidFill>
                  <a:srgbClr val="003366"/>
                </a:solidFill>
                <a:latin typeface="Calibri Light"/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74720"/>
            <a:ext cx="8229600" cy="1371600"/>
          </a:xfrm>
        </p:spPr>
        <p:txBody>
          <a:bodyPr/>
          <a:lstStyle/>
          <a:p>
            <a:pPr algn="ctr">
              <a:defRPr sz="2800">
                <a:solidFill>
                  <a:srgbClr val="323232"/>
                </a:solidFill>
                <a:latin typeface="Calibri"/>
              </a:defRPr>
            </a:pPr>
            <a:r>
              <a:t>Any Questions? Please connect:</a:t>
            </a:r>
          </a:p>
          <a:p>
            <a:pPr algn="ctr">
              <a:defRPr sz="2400">
                <a:solidFill>
                  <a:srgbClr val="323232"/>
                </a:solidFill>
                <a:latin typeface="Calibri"/>
              </a:defRPr>
            </a:pPr>
            <a:r>
              <a:t>[Your Email] | [Your Website/LinkedIn]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